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MOTIX observed</c:v>
                </c:pt>
              </c:strCache>
            </c:strRef>
          </c:tx>
          <c:spPr>
            <a:solidFill>
              <a:srgbClr val="123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Breakfast</c:v>
                  </c:pt>
                  <c:pt idx="1">
                    <c:v>Morning</c:v>
                  </c:pt>
                  <c:pt idx="2">
                    <c:v>Afternoon</c:v>
                  </c:pt>
                  <c:pt idx="3">
                    <c:v>Drive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Aired (log)</c:v>
                </c:pt>
              </c:strCache>
            </c:strRef>
          </c:tx>
          <c:spPr>
            <a:solidFill>
              <a:srgbClr val="E07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Breakfast</c:v>
                  </c:pt>
                  <c:pt idx="1">
                    <c:v>Morning</c:v>
                  </c:pt>
                  <c:pt idx="2">
                    <c:v>Afternoon</c:v>
                  </c:pt>
                  <c:pt idx="3">
                    <c:v>Drive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Booked (plan)</c:v>
                </c:pt>
              </c:strCache>
            </c:strRef>
          </c:tx>
          <c:spPr>
            <a:solidFill>
              <a:srgbClr val="8FB8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Breakfast</c:v>
                  </c:pt>
                  <c:pt idx="1">
                    <c:v>Morning</c:v>
                  </c:pt>
                  <c:pt idx="2">
                    <c:v>Afternoon</c:v>
                  </c:pt>
                  <c:pt idx="3">
                    <c:v>Drive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Paid</c:v>
                </c:pt>
              </c:strCache>
            </c:strRef>
          </c:tx>
          <c:spPr>
            <a:solidFill>
              <a:srgbClr val="123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Breakfast</c:v>
                  </c:pt>
                  <c:pt idx="1">
                    <c:v>Morning</c:v>
                  </c:pt>
                  <c:pt idx="2">
                    <c:v>Afternoon</c:v>
                  </c:pt>
                  <c:pt idx="3">
                    <c:v>Drive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Bonus</c:v>
                </c:pt>
              </c:strCache>
            </c:strRef>
          </c:tx>
          <c:spPr>
            <a:solidFill>
              <a:srgbClr val="8FB8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Breakfast</c:v>
                  </c:pt>
                  <c:pt idx="1">
                    <c:v>Morning</c:v>
                  </c:pt>
                  <c:pt idx="2">
                    <c:v>Afternoon</c:v>
                  </c:pt>
                  <c:pt idx="3">
                    <c:v>Drive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Booked</c:v>
                </c:pt>
              </c:strCache>
            </c:strRef>
          </c:tx>
          <c:spPr>
            <a:solidFill>
              <a:srgbClr val="123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Nova 100</c:v>
                  </c:pt>
                  <c:pt idx="1">
                    <c:v>Nova 96.9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Aired</c:v>
                </c:pt>
              </c:strCache>
            </c:strRef>
          </c:tx>
          <c:spPr>
            <a:solidFill>
              <a:srgbClr val="E07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Nova 100</c:v>
                  </c:pt>
                  <c:pt idx="1">
                    <c:v>Nova 96.9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8FB8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Nova 100</c:v>
                  </c:pt>
                  <c:pt idx="1">
                    <c:v>Nova 96.9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18</c:v>
                </c:pt>
                <c:pt idx="1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123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Live radio player</c:v>
                  </c:pt>
                  <c:pt idx="1">
                    <c:v>Catch-up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160000</c:v>
                </c:pt>
                <c:pt idx="1">
                  <c:v>108400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123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Kate, Tim &amp; Joel</c:v>
                  </c:pt>
                  <c:pt idx="1">
                    <c:v>Smallzy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36000</c:v>
                </c:pt>
                <c:pt idx="1">
                  <c:v>28200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fonts: heading "Poppins", body "Inter". PowerPoint substitutes a similar font if these are not installed on the viewer's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TIX_PC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4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5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559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not live-verified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118872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56616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Spring Rate Cut 2026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Brightwater Home Loans  ·  2026-09-01 – 2026-09-18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Post-Campaign Report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2648" y="539496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72688" y="5669280"/>
            <a:ext cx="2194560" cy="9144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24448" y="5669280"/>
            <a:ext cx="2194560" cy="914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91276" y="5760720"/>
            <a:ext cx="9144" cy="731520"/>
          </a:xfrm>
          <a:prstGeom prst="rect">
            <a:avLst/>
          </a:prstGeom>
          <a:solidFill>
            <a:srgbClr val="AFAFA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F3254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4754880"/>
            <a:ext cx="118872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937760"/>
            <a:ext cx="377939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overview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73952"/>
            <a:ext cx="73150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Rate Cut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48232" y="6473952"/>
            <a:ext cx="54862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82935" y="301752"/>
            <a:ext cx="100584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79598" y="777240"/>
            <a:ext cx="6309177" cy="5513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OVERVIEWMARKER Brightwater Home Loans ran across Nova breakfast and drive through September, with delivery verified by MOTIX against the booked plan and the station delivery log.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F3254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4754880"/>
            <a:ext cx="118872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937760"/>
            <a:ext cx="377939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Broadcast delivery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73952"/>
            <a:ext cx="73150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Rate Cut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48232" y="6473952"/>
            <a:ext cx="54862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3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82935" y="301752"/>
            <a:ext cx="100584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79598" y="502920"/>
            <a:ext cx="630917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96.9 · Nova 100  ·  2026-09-01 – 2026-09-18  ·  Sample data — no live feed connected.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79598" y="960120"/>
          <a:ext cx="3280772" cy="914400"/>
        </p:xfrm>
        <a:graphic>
          <a:graphicData uri="http://schemas.openxmlformats.org/drawingml/2006/table">
            <a:tbl>
              <a:tblPr/>
              <a:tblGrid>
                <a:gridCol w="820193"/>
                <a:gridCol w="820193"/>
                <a:gridCol w="820193"/>
                <a:gridCol w="82019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Daypart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MOTIX observed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Aired (log)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Booked (plan)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Breakfast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Morning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Afternoon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Drive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4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4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4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4D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 0" descr=""/>
          <p:cNvGraphicFramePr/>
          <p:nvPr/>
        </p:nvGraphicFramePr>
        <p:xfrm>
          <a:off x="9026130" y="960120"/>
          <a:ext cx="2662645" cy="5148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F3254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4754880"/>
            <a:ext cx="118872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937760"/>
            <a:ext cx="377939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Paid vs bonus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73952"/>
            <a:ext cx="73150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Rate Cut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48232" y="6473952"/>
            <a:ext cx="54862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4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82935" y="301752"/>
            <a:ext cx="1005840" cy="457200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379598" y="777240"/>
          <a:ext cx="6309177" cy="5422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F3254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4754880"/>
            <a:ext cx="118872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937760"/>
            <a:ext cx="377939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Booked vs delivered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73952"/>
            <a:ext cx="73150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Rate Cut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48232" y="6473952"/>
            <a:ext cx="54862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5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82935" y="301752"/>
            <a:ext cx="100584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79598" y="502920"/>
            <a:ext cx="630917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present: booked plan, aired log, MOTIX observed.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79598" y="960120"/>
          <a:ext cx="3470047" cy="914400"/>
        </p:xfrm>
        <a:graphic>
          <a:graphicData uri="http://schemas.openxmlformats.org/drawingml/2006/table">
            <a:tbl>
              <a:tblPr/>
              <a:tblGrid>
                <a:gridCol w="694009"/>
                <a:gridCol w="694009"/>
                <a:gridCol w="694009"/>
                <a:gridCol w="694009"/>
                <a:gridCol w="69400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Booked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Aired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Observed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Aired − Booked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Nova 100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-24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Nova 96.9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-24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 0" descr=""/>
          <p:cNvGraphicFramePr/>
          <p:nvPr/>
        </p:nvGraphicFramePr>
        <p:xfrm>
          <a:off x="9215405" y="960120"/>
          <a:ext cx="2473370" cy="5148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F3254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4754880"/>
            <a:ext cx="118872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937760"/>
            <a:ext cx="377939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Streaming — Nova Web &amp; App Streaming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73952"/>
            <a:ext cx="73150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Rate Cut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48232" y="6473952"/>
            <a:ext cx="54862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6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82935" y="301752"/>
            <a:ext cx="100584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79598" y="502920"/>
            <a:ext cx="630917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Publisher ad-server export (Sep 2026)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379598" y="96012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1F3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379598" y="1069848"/>
            <a:ext cx="73152" cy="110642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3" name="Text 9"/>
          <p:cNvSpPr/>
          <p:nvPr/>
        </p:nvSpPr>
        <p:spPr>
          <a:xfrm>
            <a:off x="5608198" y="1124712"/>
            <a:ext cx="15544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250,000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5608198" y="1782166"/>
            <a:ext cx="1554480" cy="318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Impressions booked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482718" y="96012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1F3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82718" y="1069848"/>
            <a:ext cx="73152" cy="110642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7" name="Text 13"/>
          <p:cNvSpPr/>
          <p:nvPr/>
        </p:nvSpPr>
        <p:spPr>
          <a:xfrm>
            <a:off x="7711318" y="1124712"/>
            <a:ext cx="15544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268,400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7711318" y="1782166"/>
            <a:ext cx="1554480" cy="318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Impressions delivered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585838" y="96012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1F3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585838" y="1069848"/>
            <a:ext cx="73152" cy="110642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1" name="Text 17"/>
          <p:cNvSpPr/>
          <p:nvPr/>
        </p:nvSpPr>
        <p:spPr>
          <a:xfrm>
            <a:off x="9814438" y="1124712"/>
            <a:ext cx="15544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92,000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9814438" y="1782166"/>
            <a:ext cx="1554480" cy="318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users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79598" y="2651760"/>
          <a:ext cx="3154589" cy="914400"/>
        </p:xfrm>
        <a:graphic>
          <a:graphicData uri="http://schemas.openxmlformats.org/drawingml/2006/table">
            <a:tbl>
              <a:tblPr/>
              <a:tblGrid>
                <a:gridCol w="1577295"/>
                <a:gridCol w="157729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Value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Completed Views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241,560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0" descr=""/>
          <p:cNvGraphicFramePr/>
          <p:nvPr/>
        </p:nvGraphicFramePr>
        <p:xfrm>
          <a:off x="8899947" y="2651760"/>
          <a:ext cx="2788829" cy="3639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F3254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4754880"/>
            <a:ext cx="118872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937760"/>
            <a:ext cx="377939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Podcast — Nova Podcast Network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73952"/>
            <a:ext cx="73150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Rate Cut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48232" y="6473952"/>
            <a:ext cx="54862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7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82935" y="301752"/>
            <a:ext cx="100584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79598" y="502920"/>
            <a:ext cx="630917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Megaphone delivery report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379598" y="96012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1F3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379598" y="1069848"/>
            <a:ext cx="73152" cy="110642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3" name="Text 9"/>
          <p:cNvSpPr/>
          <p:nvPr/>
        </p:nvSpPr>
        <p:spPr>
          <a:xfrm>
            <a:off x="5608198" y="1124712"/>
            <a:ext cx="15544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60,000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5608198" y="1782166"/>
            <a:ext cx="1554480" cy="318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Impressions booked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482718" y="96012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1F3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82718" y="1069848"/>
            <a:ext cx="73152" cy="110642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7" name="Text 13"/>
          <p:cNvSpPr/>
          <p:nvPr/>
        </p:nvSpPr>
        <p:spPr>
          <a:xfrm>
            <a:off x="7711318" y="1124712"/>
            <a:ext cx="15544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64,200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7711318" y="1782166"/>
            <a:ext cx="1554480" cy="318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Impressions delivered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585838" y="96012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1F3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585838" y="1069848"/>
            <a:ext cx="73152" cy="110642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1" name="Text 17"/>
          <p:cNvSpPr/>
          <p:nvPr/>
        </p:nvSpPr>
        <p:spPr>
          <a:xfrm>
            <a:off x="9814438" y="1124712"/>
            <a:ext cx="15544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58,800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9814438" y="1782166"/>
            <a:ext cx="1554480" cy="318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Downloads</a:t>
            </a:r>
            <a:endParaRPr lang="en-US" sz="11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379598" y="2651760"/>
          <a:ext cx="6309177" cy="3639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F3254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4754880"/>
            <a:ext cx="1188720" cy="64008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937760"/>
            <a:ext cx="377939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Reach &amp; frequency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7EBE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73952"/>
            <a:ext cx="73150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Rate Cut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48232" y="6473952"/>
            <a:ext cx="54862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8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82935" y="301752"/>
            <a:ext cx="100584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79598" y="502920"/>
            <a:ext cx="630917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GfK Fusion Survey 4 2026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379598" y="96012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1F3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379598" y="1069848"/>
            <a:ext cx="73152" cy="110642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3" name="Text 9"/>
          <p:cNvSpPr/>
          <p:nvPr/>
        </p:nvSpPr>
        <p:spPr>
          <a:xfrm>
            <a:off x="5608198" y="1124712"/>
            <a:ext cx="15544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512,000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5608198" y="1782166"/>
            <a:ext cx="1554480" cy="318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1+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482718" y="96012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1F3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82718" y="1069848"/>
            <a:ext cx="73152" cy="110642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17" name="Text 13"/>
          <p:cNvSpPr/>
          <p:nvPr/>
        </p:nvSpPr>
        <p:spPr>
          <a:xfrm>
            <a:off x="7711318" y="1124712"/>
            <a:ext cx="15544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288,000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7711318" y="1782166"/>
            <a:ext cx="1554480" cy="318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3+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585838" y="960120"/>
            <a:ext cx="1874520" cy="1325880"/>
          </a:xfrm>
          <a:prstGeom prst="roundRect">
            <a:avLst>
              <a:gd name="adj" fmla="val 4138"/>
            </a:avLst>
          </a:prstGeom>
          <a:solidFill>
            <a:srgbClr val="F1F3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585838" y="1069848"/>
            <a:ext cx="73152" cy="1106424"/>
          </a:xfrm>
          <a:prstGeom prst="rect">
            <a:avLst/>
          </a:prstGeom>
          <a:solidFill>
            <a:srgbClr val="E07A2F"/>
          </a:solidFill>
          <a:ln/>
        </p:spPr>
      </p:sp>
      <p:sp>
        <p:nvSpPr>
          <p:cNvPr id="21" name="Text 17"/>
          <p:cNvSpPr/>
          <p:nvPr/>
        </p:nvSpPr>
        <p:spPr>
          <a:xfrm>
            <a:off x="9814438" y="1124712"/>
            <a:ext cx="15544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B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3.4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9814438" y="1782166"/>
            <a:ext cx="1554480" cy="318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frequency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79598" y="265176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Value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Gross Impacts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1,740,000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Demographic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P25-54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559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not live-verified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52648" y="406908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72688" y="4343400"/>
            <a:ext cx="2194560" cy="914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24448" y="4343400"/>
            <a:ext cx="2194560" cy="914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91276" y="4434840"/>
            <a:ext cx="9144" cy="731520"/>
          </a:xfrm>
          <a:prstGeom prst="rect">
            <a:avLst/>
          </a:prstGeom>
          <a:solidFill>
            <a:srgbClr val="AFAFA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2026-09-18T00:58:23Z</dcterms:created>
  <dcterms:modified xsi:type="dcterms:W3CDTF">2026-09-18T00:58:23Z</dcterms:modified>
</cp:coreProperties>
</file>