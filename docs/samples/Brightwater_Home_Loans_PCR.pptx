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charts/chart1.xml" ContentType="application/vnd.openxmlformats-officedocument.drawingml.chart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2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charts/chart3.xml" ContentType="application/vnd.openxmlformats-officedocument.drawingml.chart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charts/chart4.xml" ContentType="application/vnd.openxmlformats-officedocument.drawingml.chart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charts/chart5.xml" ContentType="application/vnd.openxmlformats-officedocument.drawingml.chart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_rels/chart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5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MOTIX observed</c:v>
                </c:pt>
              </c:strCache>
            </c:strRef>
          </c:tx>
          <c:spPr>
            <a:solidFill>
              <a:srgbClr val="123B63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Breakfast</c:v>
                  </c:pt>
                  <c:pt idx="1">
                    <c:v>Morning</c:v>
                  </c:pt>
                  <c:pt idx="2">
                    <c:v>Afternoon</c:v>
                  </c:pt>
                  <c:pt idx="3">
                    <c:v>Drive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12</c:v>
                </c:pt>
                <c:pt idx="1">
                  <c:v>6</c:v>
                </c:pt>
                <c:pt idx="2">
                  <c:v>8</c:v>
                </c:pt>
                <c:pt idx="3">
                  <c:v>10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Aired (log)</c:v>
                </c:pt>
              </c:strCache>
            </c:strRef>
          </c:tx>
          <c:spPr>
            <a:solidFill>
              <a:srgbClr val="E07A2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Breakfast</c:v>
                  </c:pt>
                  <c:pt idx="1">
                    <c:v>Morning</c:v>
                  </c:pt>
                  <c:pt idx="2">
                    <c:v>Afternoon</c:v>
                  </c:pt>
                  <c:pt idx="3">
                    <c:v>Drive</c:v>
                  </c:pt>
                </c:lvl>
              </c:multiLvlStrCache>
            </c:multiLvl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2</c:v>
                </c:pt>
                <c:pt idx="1">
                  <c:v>2</c:v>
                </c:pt>
                <c:pt idx="2">
                  <c:v>2</c:v>
                </c:pt>
                <c:pt idx="3">
                  <c:v>2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Booked (plan)</c:v>
                </c:pt>
              </c:strCache>
            </c:strRef>
          </c:tx>
          <c:spPr>
            <a:solidFill>
              <a:srgbClr val="8FB8C9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Breakfast</c:v>
                  </c:pt>
                  <c:pt idx="1">
                    <c:v>Morning</c:v>
                  </c:pt>
                  <c:pt idx="2">
                    <c:v>Afternoon</c:v>
                  </c:pt>
                  <c:pt idx="3">
                    <c:v>Drive</c:v>
                  </c:pt>
                </c:lvl>
              </c:multiLvlStrCache>
            </c:multiLvlStrRef>
          </c:cat>
          <c:val>
            <c:numRef>
              <c:f>Sheet1!$D$2:$D$5</c:f>
              <c:numCache>
                <c:formatCode>General</c:formatCode>
                <c:ptCount val="4"/>
                <c:pt idx="0">
                  <c:v>14</c:v>
                </c:pt>
                <c:pt idx="1">
                  <c:v>14</c:v>
                </c:pt>
                <c:pt idx="2">
                  <c:v>14</c:v>
                </c:pt>
                <c:pt idx="3">
                  <c:v>14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000000"/>
                </a:solidFill>
                <a:latin typeface="Inter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12700" cap="flat">
              <a:solidFill>
                <a:srgbClr val="88888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000000"/>
                </a:solidFill>
                <a:latin typeface="Inter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Paid</c:v>
                </c:pt>
              </c:strCache>
            </c:strRef>
          </c:tx>
          <c:spPr>
            <a:solidFill>
              <a:srgbClr val="123B63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Breakfast</c:v>
                  </c:pt>
                  <c:pt idx="1">
                    <c:v>Morning</c:v>
                  </c:pt>
                  <c:pt idx="2">
                    <c:v>Afternoon</c:v>
                  </c:pt>
                  <c:pt idx="3">
                    <c:v>Drive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12</c:v>
                </c:pt>
                <c:pt idx="1">
                  <c:v>12</c:v>
                </c:pt>
                <c:pt idx="2">
                  <c:v>12</c:v>
                </c:pt>
                <c:pt idx="3">
                  <c:v>12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Bonus</c:v>
                </c:pt>
              </c:strCache>
            </c:strRef>
          </c:tx>
          <c:spPr>
            <a:solidFill>
              <a:srgbClr val="8FB8C9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Breakfast</c:v>
                  </c:pt>
                  <c:pt idx="1">
                    <c:v>Morning</c:v>
                  </c:pt>
                  <c:pt idx="2">
                    <c:v>Afternoon</c:v>
                  </c:pt>
                  <c:pt idx="3">
                    <c:v>Drive</c:v>
                  </c:pt>
                </c:lvl>
              </c:multiLvlStrCache>
            </c:multiLvl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4</c:v>
                </c:pt>
                <c:pt idx="1">
                  <c:v>4</c:v>
                </c:pt>
                <c:pt idx="2">
                  <c:v>4</c:v>
                </c:pt>
                <c:pt idx="3">
                  <c:v>4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Inter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12700" cap="flat">
              <a:solidFill>
                <a:srgbClr val="88888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Inter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Booked</c:v>
                </c:pt>
              </c:strCache>
            </c:strRef>
          </c:tx>
          <c:spPr>
            <a:solidFill>
              <a:srgbClr val="123B63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Nova 100</c:v>
                  </c:pt>
                  <c:pt idx="1">
                    <c:v>Nova 96.9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28</c:v>
                </c:pt>
                <c:pt idx="1">
                  <c:v>28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Aired</c:v>
                </c:pt>
              </c:strCache>
            </c:strRef>
          </c:tx>
          <c:spPr>
            <a:solidFill>
              <a:srgbClr val="E07A2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Nova 100</c:v>
                  </c:pt>
                  <c:pt idx="1">
                    <c:v>Nova 96.9</c:v>
                  </c:pt>
                </c:lvl>
              </c:multiLvlStrCache>
            </c:multiLvlStrRef>
          </c:cat>
          <c:val>
            <c:numRef>
              <c:f>Sheet1!$C$2:$C$3</c:f>
              <c:numCache>
                <c:formatCode>General</c:formatCode>
                <c:ptCount val="2"/>
                <c:pt idx="0">
                  <c:v>4</c:v>
                </c:pt>
                <c:pt idx="1">
                  <c:v>4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Observed</c:v>
                </c:pt>
              </c:strCache>
            </c:strRef>
          </c:tx>
          <c:spPr>
            <a:solidFill>
              <a:srgbClr val="8FB8C9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Nova 100</c:v>
                  </c:pt>
                  <c:pt idx="1">
                    <c:v>Nova 96.9</c:v>
                  </c:pt>
                </c:lvl>
              </c:multiLvlStrCache>
            </c:multiLvlStrRef>
          </c:cat>
          <c:val>
            <c:numRef>
              <c:f>Sheet1!$D$2:$D$3</c:f>
              <c:numCache>
                <c:formatCode>General</c:formatCode>
                <c:ptCount val="2"/>
                <c:pt idx="0">
                  <c:v>18</c:v>
                </c:pt>
                <c:pt idx="1">
                  <c:v>18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Inter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12700" cap="flat">
              <a:solidFill>
                <a:srgbClr val="88888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Inter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Impressions</c:v>
                </c:pt>
              </c:strCache>
            </c:strRef>
          </c:tx>
          <c:spPr>
            <a:solidFill>
              <a:srgbClr val="123B63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Live radio player</c:v>
                  </c:pt>
                  <c:pt idx="1">
                    <c:v>Catch-up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160000</c:v>
                </c:pt>
                <c:pt idx="1">
                  <c:v>108400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Inter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b"/>
        <c:majorGridlines>
          <c:spPr>
            <a:ln w="12700" cap="flat">
              <a:solidFill>
                <a:srgbClr val="88888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Inter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Impressions</c:v>
                </c:pt>
              </c:strCache>
            </c:strRef>
          </c:tx>
          <c:spPr>
            <a:solidFill>
              <a:srgbClr val="123B63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Kate, Tim &amp; Joel</c:v>
                  </c:pt>
                  <c:pt idx="1">
                    <c:v>Smallzy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36000</c:v>
                </c:pt>
                <c:pt idx="1">
                  <c:v>28200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Inter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b"/>
        <c:majorGridlines>
          <c:spPr>
            <a:ln w="12700" cap="flat">
              <a:solidFill>
                <a:srgbClr val="88888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Inter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Brand fonts: heading "Poppins", body "Inter". PowerPoint substitutes a similar font if these are not installed on the viewer's machine.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MOTIX_PCR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chart" Target="/ppt/charts/chart1.xml"/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chart" Target="/ppt/charts/chart2.xml"/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chart" Target="/ppt/charts/chart3.xml"/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chart" Target="/ppt/charts/chart4.xml"/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chart" Target="/ppt/charts/chart5.xml"/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03559">
              <a:alpha val="55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2191695" cy="384048"/>
          </a:xfrm>
          <a:prstGeom prst="rect">
            <a:avLst/>
          </a:prstGeom>
          <a:solidFill>
            <a:srgbClr val="E07A2F"/>
          </a:solidFill>
          <a:ln/>
        </p:spPr>
      </p:sp>
      <p:sp>
        <p:nvSpPr>
          <p:cNvPr id="4" name="Text 2"/>
          <p:cNvSpPr/>
          <p:nvPr/>
        </p:nvSpPr>
        <p:spPr>
          <a:xfrm>
            <a:off x="0" y="0"/>
            <a:ext cx="12191695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SAMPLE DATA — not live-verified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457200" y="3383280"/>
            <a:ext cx="1188720" cy="64008"/>
          </a:xfrm>
          <a:prstGeom prst="rect">
            <a:avLst/>
          </a:prstGeom>
          <a:solidFill>
            <a:srgbClr val="E07A2F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3566160"/>
            <a:ext cx="11277295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Spring Rate Cut 2026</a:t>
            </a:r>
            <a:endParaRPr lang="en-US" sz="4400" dirty="0"/>
          </a:p>
        </p:txBody>
      </p:sp>
      <p:sp>
        <p:nvSpPr>
          <p:cNvPr id="7" name="Text 5"/>
          <p:cNvSpPr/>
          <p:nvPr/>
        </p:nvSpPr>
        <p:spPr>
          <a:xfrm>
            <a:off x="457200" y="4663440"/>
            <a:ext cx="11277295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Brightwater Home Loans  ·  2026-09-01 – 2026-09-18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457200" y="5120640"/>
            <a:ext cx="1127729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>
                    <a:alpha val="75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Post-Campaign Report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3352648" y="5394960"/>
            <a:ext cx="5486400" cy="14630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/>
        </p:spPr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3672688" y="5669280"/>
            <a:ext cx="2194560" cy="914400"/>
          </a:xfrm>
          <a:prstGeom prst="rect">
            <a:avLst/>
          </a:prstGeom>
        </p:spPr>
      </p:pic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6324448" y="5669280"/>
            <a:ext cx="2194560" cy="914400"/>
          </a:xfrm>
          <a:prstGeom prst="rect">
            <a:avLst/>
          </a:prstGeom>
        </p:spPr>
      </p:pic>
      <p:sp>
        <p:nvSpPr>
          <p:cNvPr id="12" name="Shape 8"/>
          <p:cNvSpPr/>
          <p:nvPr/>
        </p:nvSpPr>
        <p:spPr>
          <a:xfrm>
            <a:off x="6091276" y="5760720"/>
            <a:ext cx="9144" cy="731520"/>
          </a:xfrm>
          <a:prstGeom prst="rect">
            <a:avLst/>
          </a:prstGeom>
          <a:solidFill>
            <a:srgbClr val="AFAFAF"/>
          </a:solidFill>
          <a:ln/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4876678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4876678" cy="6858000"/>
          </a:xfrm>
          <a:prstGeom prst="rect">
            <a:avLst/>
          </a:prstGeom>
          <a:solidFill>
            <a:srgbClr val="0F3254">
              <a:alpha val="60000"/>
            </a:srgbClr>
          </a:solidFill>
          <a:ln/>
        </p:spPr>
      </p:sp>
      <p:sp>
        <p:nvSpPr>
          <p:cNvPr id="4" name="Shape 1"/>
          <p:cNvSpPr/>
          <p:nvPr/>
        </p:nvSpPr>
        <p:spPr>
          <a:xfrm>
            <a:off x="548640" y="4754880"/>
            <a:ext cx="1188720" cy="64008"/>
          </a:xfrm>
          <a:prstGeom prst="rect">
            <a:avLst/>
          </a:prstGeom>
          <a:solidFill>
            <a:srgbClr val="E07A2F"/>
          </a:solidFill>
          <a:ln/>
        </p:spPr>
      </p:sp>
      <p:sp>
        <p:nvSpPr>
          <p:cNvPr id="5" name="Text 2"/>
          <p:cNvSpPr/>
          <p:nvPr/>
        </p:nvSpPr>
        <p:spPr>
          <a:xfrm>
            <a:off x="548640" y="4937760"/>
            <a:ext cx="3779398" cy="1645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Campaign overview</a:t>
            </a:r>
            <a:endParaRPr lang="en-US" sz="3200" dirty="0"/>
          </a:p>
        </p:txBody>
      </p:sp>
      <p:sp>
        <p:nvSpPr>
          <p:cNvPr id="6" name="Shape 3"/>
          <p:cNvSpPr/>
          <p:nvPr/>
        </p:nvSpPr>
        <p:spPr>
          <a:xfrm>
            <a:off x="0" y="6473952"/>
            <a:ext cx="12191695" cy="384048"/>
          </a:xfrm>
          <a:prstGeom prst="rect">
            <a:avLst/>
          </a:prstGeom>
          <a:solidFill>
            <a:srgbClr val="E7EBEF"/>
          </a:solidFill>
          <a:ln/>
        </p:spPr>
      </p:sp>
      <p:sp>
        <p:nvSpPr>
          <p:cNvPr id="7" name="Text 4"/>
          <p:cNvSpPr/>
          <p:nvPr/>
        </p:nvSpPr>
        <p:spPr>
          <a:xfrm>
            <a:off x="457200" y="6473952"/>
            <a:ext cx="7315017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7A7A7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Spring Rate Cut 2026</a:t>
            </a:r>
            <a:endParaRPr lang="en-US" sz="900" dirty="0"/>
          </a:p>
        </p:txBody>
      </p:sp>
      <p:sp>
        <p:nvSpPr>
          <p:cNvPr id="8" name="Text 5"/>
          <p:cNvSpPr/>
          <p:nvPr/>
        </p:nvSpPr>
        <p:spPr>
          <a:xfrm>
            <a:off x="6248232" y="6473952"/>
            <a:ext cx="5486263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A7A7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Page 2</a:t>
            </a:r>
            <a:endParaRPr lang="en-US" sz="900" dirty="0"/>
          </a:p>
        </p:txBody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10682935" y="301752"/>
            <a:ext cx="1005840" cy="457200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5379598" y="777240"/>
            <a:ext cx="6309177" cy="55138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800" dirty="0">
                <a:solidFill>
                  <a:srgbClr val="2A2A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OVERVIEWMARKER Brightwater Home Loans ran across Nova breakfast and drive through September, with delivery verified by MOTIX against the booked plan and the station delivery log.</a:t>
            </a:r>
            <a:endParaRPr lang="en-US" sz="1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4876678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4876678" cy="6858000"/>
          </a:xfrm>
          <a:prstGeom prst="rect">
            <a:avLst/>
          </a:prstGeom>
          <a:solidFill>
            <a:srgbClr val="0F3254">
              <a:alpha val="60000"/>
            </a:srgbClr>
          </a:solidFill>
          <a:ln/>
        </p:spPr>
      </p:sp>
      <p:sp>
        <p:nvSpPr>
          <p:cNvPr id="4" name="Shape 1"/>
          <p:cNvSpPr/>
          <p:nvPr/>
        </p:nvSpPr>
        <p:spPr>
          <a:xfrm>
            <a:off x="548640" y="4754880"/>
            <a:ext cx="1188720" cy="64008"/>
          </a:xfrm>
          <a:prstGeom prst="rect">
            <a:avLst/>
          </a:prstGeom>
          <a:solidFill>
            <a:srgbClr val="E07A2F"/>
          </a:solidFill>
          <a:ln/>
        </p:spPr>
      </p:sp>
      <p:sp>
        <p:nvSpPr>
          <p:cNvPr id="5" name="Text 2"/>
          <p:cNvSpPr/>
          <p:nvPr/>
        </p:nvSpPr>
        <p:spPr>
          <a:xfrm>
            <a:off x="548640" y="4937760"/>
            <a:ext cx="3779398" cy="1645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Broadcast delivery</a:t>
            </a:r>
            <a:endParaRPr lang="en-US" sz="3200" dirty="0"/>
          </a:p>
        </p:txBody>
      </p:sp>
      <p:sp>
        <p:nvSpPr>
          <p:cNvPr id="6" name="Shape 3"/>
          <p:cNvSpPr/>
          <p:nvPr/>
        </p:nvSpPr>
        <p:spPr>
          <a:xfrm>
            <a:off x="0" y="6473952"/>
            <a:ext cx="12191695" cy="384048"/>
          </a:xfrm>
          <a:prstGeom prst="rect">
            <a:avLst/>
          </a:prstGeom>
          <a:solidFill>
            <a:srgbClr val="E7EBEF"/>
          </a:solidFill>
          <a:ln/>
        </p:spPr>
      </p:sp>
      <p:sp>
        <p:nvSpPr>
          <p:cNvPr id="7" name="Text 4"/>
          <p:cNvSpPr/>
          <p:nvPr/>
        </p:nvSpPr>
        <p:spPr>
          <a:xfrm>
            <a:off x="457200" y="6473952"/>
            <a:ext cx="7315017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7A7A7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Spring Rate Cut 2026</a:t>
            </a:r>
            <a:endParaRPr lang="en-US" sz="900" dirty="0"/>
          </a:p>
        </p:txBody>
      </p:sp>
      <p:sp>
        <p:nvSpPr>
          <p:cNvPr id="8" name="Text 5"/>
          <p:cNvSpPr/>
          <p:nvPr/>
        </p:nvSpPr>
        <p:spPr>
          <a:xfrm>
            <a:off x="6248232" y="6473952"/>
            <a:ext cx="5486263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A7A7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Page 3</a:t>
            </a:r>
            <a:endParaRPr lang="en-US" sz="900" dirty="0"/>
          </a:p>
        </p:txBody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10682935" y="301752"/>
            <a:ext cx="1005840" cy="457200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5379598" y="502920"/>
            <a:ext cx="6309177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100" i="1" dirty="0">
                <a:solidFill>
                  <a:srgbClr val="7A7A7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Nova 96.9 · Nova 100  ·  2026-09-01 – 2026-09-18  ·  Sample data — no live feed connected.</a:t>
            </a:r>
            <a:endParaRPr lang="en-US" sz="11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379598" y="960120"/>
          <a:ext cx="3280772" cy="914400"/>
        </p:xfrm>
        <a:graphic>
          <a:graphicData uri="http://schemas.openxmlformats.org/drawingml/2006/table">
            <a:tbl>
              <a:tblPr/>
              <a:tblGrid>
                <a:gridCol w="820193"/>
                <a:gridCol w="820193"/>
                <a:gridCol w="820193"/>
                <a:gridCol w="820193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Daypart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3B6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MOTIX observed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3B6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Aired (log)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3B6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Booked (plan)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3B63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A2A2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Breakfast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2A2A2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12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2A2A2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2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2A2A2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14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A2A2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Morning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EBE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2A2A2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6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EBE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2A2A2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2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EBE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2A2A2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14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EBE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A2A2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Afternoon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2A2A2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8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2A2A2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2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2A2A2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14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A2A2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Drive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EBE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2A2A2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10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EBE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2A2A2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2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EBE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2A2A2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14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EBE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Total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BD4D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36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BD4D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8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BD4D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56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BD4DD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2" name="Chart 0" descr=""/>
          <p:cNvGraphicFramePr/>
          <p:nvPr/>
        </p:nvGraphicFramePr>
        <p:xfrm>
          <a:off x="9026130" y="960120"/>
          <a:ext cx="2662645" cy="5148072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3"/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4876678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4876678" cy="6858000"/>
          </a:xfrm>
          <a:prstGeom prst="rect">
            <a:avLst/>
          </a:prstGeom>
          <a:solidFill>
            <a:srgbClr val="0F3254">
              <a:alpha val="60000"/>
            </a:srgbClr>
          </a:solidFill>
          <a:ln/>
        </p:spPr>
      </p:sp>
      <p:sp>
        <p:nvSpPr>
          <p:cNvPr id="4" name="Shape 1"/>
          <p:cNvSpPr/>
          <p:nvPr/>
        </p:nvSpPr>
        <p:spPr>
          <a:xfrm>
            <a:off x="548640" y="4754880"/>
            <a:ext cx="1188720" cy="64008"/>
          </a:xfrm>
          <a:prstGeom prst="rect">
            <a:avLst/>
          </a:prstGeom>
          <a:solidFill>
            <a:srgbClr val="E07A2F"/>
          </a:solidFill>
          <a:ln/>
        </p:spPr>
      </p:sp>
      <p:sp>
        <p:nvSpPr>
          <p:cNvPr id="5" name="Text 2"/>
          <p:cNvSpPr/>
          <p:nvPr/>
        </p:nvSpPr>
        <p:spPr>
          <a:xfrm>
            <a:off x="548640" y="4937760"/>
            <a:ext cx="3779398" cy="1645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Paid vs bonus</a:t>
            </a:r>
            <a:endParaRPr lang="en-US" sz="3200" dirty="0"/>
          </a:p>
        </p:txBody>
      </p:sp>
      <p:sp>
        <p:nvSpPr>
          <p:cNvPr id="6" name="Shape 3"/>
          <p:cNvSpPr/>
          <p:nvPr/>
        </p:nvSpPr>
        <p:spPr>
          <a:xfrm>
            <a:off x="0" y="6473952"/>
            <a:ext cx="12191695" cy="384048"/>
          </a:xfrm>
          <a:prstGeom prst="rect">
            <a:avLst/>
          </a:prstGeom>
          <a:solidFill>
            <a:srgbClr val="E7EBEF"/>
          </a:solidFill>
          <a:ln/>
        </p:spPr>
      </p:sp>
      <p:sp>
        <p:nvSpPr>
          <p:cNvPr id="7" name="Text 4"/>
          <p:cNvSpPr/>
          <p:nvPr/>
        </p:nvSpPr>
        <p:spPr>
          <a:xfrm>
            <a:off x="457200" y="6473952"/>
            <a:ext cx="7315017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7A7A7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Spring Rate Cut 2026</a:t>
            </a:r>
            <a:endParaRPr lang="en-US" sz="900" dirty="0"/>
          </a:p>
        </p:txBody>
      </p:sp>
      <p:sp>
        <p:nvSpPr>
          <p:cNvPr id="8" name="Text 5"/>
          <p:cNvSpPr/>
          <p:nvPr/>
        </p:nvSpPr>
        <p:spPr>
          <a:xfrm>
            <a:off x="6248232" y="6473952"/>
            <a:ext cx="5486263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A7A7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Page 4</a:t>
            </a:r>
            <a:endParaRPr lang="en-US" sz="900" dirty="0"/>
          </a:p>
        </p:txBody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10682935" y="301752"/>
            <a:ext cx="1005840" cy="457200"/>
          </a:xfrm>
          <a:prstGeom prst="rect">
            <a:avLst/>
          </a:prstGeom>
        </p:spPr>
      </p:pic>
      <p:graphicFrame>
        <p:nvGraphicFramePr>
          <p:cNvPr id="10" name="Chart 0" descr=""/>
          <p:cNvGraphicFramePr/>
          <p:nvPr/>
        </p:nvGraphicFramePr>
        <p:xfrm>
          <a:off x="5379598" y="777240"/>
          <a:ext cx="6309177" cy="5422392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3"/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4876678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4876678" cy="6858000"/>
          </a:xfrm>
          <a:prstGeom prst="rect">
            <a:avLst/>
          </a:prstGeom>
          <a:solidFill>
            <a:srgbClr val="0F3254">
              <a:alpha val="60000"/>
            </a:srgbClr>
          </a:solidFill>
          <a:ln/>
        </p:spPr>
      </p:sp>
      <p:sp>
        <p:nvSpPr>
          <p:cNvPr id="4" name="Shape 1"/>
          <p:cNvSpPr/>
          <p:nvPr/>
        </p:nvSpPr>
        <p:spPr>
          <a:xfrm>
            <a:off x="548640" y="4754880"/>
            <a:ext cx="1188720" cy="64008"/>
          </a:xfrm>
          <a:prstGeom prst="rect">
            <a:avLst/>
          </a:prstGeom>
          <a:solidFill>
            <a:srgbClr val="E07A2F"/>
          </a:solidFill>
          <a:ln/>
        </p:spPr>
      </p:sp>
      <p:sp>
        <p:nvSpPr>
          <p:cNvPr id="5" name="Text 2"/>
          <p:cNvSpPr/>
          <p:nvPr/>
        </p:nvSpPr>
        <p:spPr>
          <a:xfrm>
            <a:off x="548640" y="4937760"/>
            <a:ext cx="3779398" cy="1645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Booked vs delivered</a:t>
            </a:r>
            <a:endParaRPr lang="en-US" sz="3200" dirty="0"/>
          </a:p>
        </p:txBody>
      </p:sp>
      <p:sp>
        <p:nvSpPr>
          <p:cNvPr id="6" name="Shape 3"/>
          <p:cNvSpPr/>
          <p:nvPr/>
        </p:nvSpPr>
        <p:spPr>
          <a:xfrm>
            <a:off x="0" y="6473952"/>
            <a:ext cx="12191695" cy="384048"/>
          </a:xfrm>
          <a:prstGeom prst="rect">
            <a:avLst/>
          </a:prstGeom>
          <a:solidFill>
            <a:srgbClr val="E7EBEF"/>
          </a:solidFill>
          <a:ln/>
        </p:spPr>
      </p:sp>
      <p:sp>
        <p:nvSpPr>
          <p:cNvPr id="7" name="Text 4"/>
          <p:cNvSpPr/>
          <p:nvPr/>
        </p:nvSpPr>
        <p:spPr>
          <a:xfrm>
            <a:off x="457200" y="6473952"/>
            <a:ext cx="7315017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7A7A7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Spring Rate Cut 2026</a:t>
            </a:r>
            <a:endParaRPr lang="en-US" sz="900" dirty="0"/>
          </a:p>
        </p:txBody>
      </p:sp>
      <p:sp>
        <p:nvSpPr>
          <p:cNvPr id="8" name="Text 5"/>
          <p:cNvSpPr/>
          <p:nvPr/>
        </p:nvSpPr>
        <p:spPr>
          <a:xfrm>
            <a:off x="6248232" y="6473952"/>
            <a:ext cx="5486263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A7A7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Page 5</a:t>
            </a:r>
            <a:endParaRPr lang="en-US" sz="900" dirty="0"/>
          </a:p>
        </p:txBody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10682935" y="301752"/>
            <a:ext cx="1005840" cy="457200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5379598" y="502920"/>
            <a:ext cx="6309177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100" i="1" dirty="0">
                <a:solidFill>
                  <a:srgbClr val="7A7A7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Sources present: booked plan, aired log, MOTIX observed.</a:t>
            </a:r>
            <a:endParaRPr lang="en-US" sz="11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379598" y="960120"/>
          <a:ext cx="3470047" cy="914400"/>
        </p:xfrm>
        <a:graphic>
          <a:graphicData uri="http://schemas.openxmlformats.org/drawingml/2006/table">
            <a:tbl>
              <a:tblPr/>
              <a:tblGrid>
                <a:gridCol w="694009"/>
                <a:gridCol w="694009"/>
                <a:gridCol w="694009"/>
                <a:gridCol w="694009"/>
                <a:gridCol w="694009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Station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3B6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Booked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3B6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Aired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3B6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Observed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3B6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Aired − Booked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3B63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A2A2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Nova 100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2A2A2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28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2A2A2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4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2A2A2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18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2A2A2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-24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A2A2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Nova 96.9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EBE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2A2A2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28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EBE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2A2A2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4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EBE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2A2A2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18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EBE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2A2A2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-24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EBE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2" name="Chart 0" descr=""/>
          <p:cNvGraphicFramePr/>
          <p:nvPr/>
        </p:nvGraphicFramePr>
        <p:xfrm>
          <a:off x="9215405" y="960120"/>
          <a:ext cx="2473370" cy="5148072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3"/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4876678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4876678" cy="6858000"/>
          </a:xfrm>
          <a:prstGeom prst="rect">
            <a:avLst/>
          </a:prstGeom>
          <a:solidFill>
            <a:srgbClr val="0F3254">
              <a:alpha val="60000"/>
            </a:srgbClr>
          </a:solidFill>
          <a:ln/>
        </p:spPr>
      </p:sp>
      <p:sp>
        <p:nvSpPr>
          <p:cNvPr id="4" name="Shape 1"/>
          <p:cNvSpPr/>
          <p:nvPr/>
        </p:nvSpPr>
        <p:spPr>
          <a:xfrm>
            <a:off x="548640" y="4754880"/>
            <a:ext cx="1188720" cy="64008"/>
          </a:xfrm>
          <a:prstGeom prst="rect">
            <a:avLst/>
          </a:prstGeom>
          <a:solidFill>
            <a:srgbClr val="E07A2F"/>
          </a:solidFill>
          <a:ln/>
        </p:spPr>
      </p:sp>
      <p:sp>
        <p:nvSpPr>
          <p:cNvPr id="5" name="Text 2"/>
          <p:cNvSpPr/>
          <p:nvPr/>
        </p:nvSpPr>
        <p:spPr>
          <a:xfrm>
            <a:off x="548640" y="4937760"/>
            <a:ext cx="3779398" cy="1645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Streaming — Nova Web &amp; App Streaming</a:t>
            </a:r>
            <a:endParaRPr lang="en-US" sz="3200" dirty="0"/>
          </a:p>
        </p:txBody>
      </p:sp>
      <p:sp>
        <p:nvSpPr>
          <p:cNvPr id="6" name="Shape 3"/>
          <p:cNvSpPr/>
          <p:nvPr/>
        </p:nvSpPr>
        <p:spPr>
          <a:xfrm>
            <a:off x="0" y="6473952"/>
            <a:ext cx="12191695" cy="384048"/>
          </a:xfrm>
          <a:prstGeom prst="rect">
            <a:avLst/>
          </a:prstGeom>
          <a:solidFill>
            <a:srgbClr val="E7EBEF"/>
          </a:solidFill>
          <a:ln/>
        </p:spPr>
      </p:sp>
      <p:sp>
        <p:nvSpPr>
          <p:cNvPr id="7" name="Text 4"/>
          <p:cNvSpPr/>
          <p:nvPr/>
        </p:nvSpPr>
        <p:spPr>
          <a:xfrm>
            <a:off x="457200" y="6473952"/>
            <a:ext cx="7315017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7A7A7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Spring Rate Cut 2026</a:t>
            </a:r>
            <a:endParaRPr lang="en-US" sz="900" dirty="0"/>
          </a:p>
        </p:txBody>
      </p:sp>
      <p:sp>
        <p:nvSpPr>
          <p:cNvPr id="8" name="Text 5"/>
          <p:cNvSpPr/>
          <p:nvPr/>
        </p:nvSpPr>
        <p:spPr>
          <a:xfrm>
            <a:off x="6248232" y="6473952"/>
            <a:ext cx="5486263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A7A7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Page 6</a:t>
            </a:r>
            <a:endParaRPr lang="en-US" sz="900" dirty="0"/>
          </a:p>
        </p:txBody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10682935" y="301752"/>
            <a:ext cx="1005840" cy="457200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5379598" y="502920"/>
            <a:ext cx="6309177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100" i="1" dirty="0">
                <a:solidFill>
                  <a:srgbClr val="7A7A7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Source: Publisher ad-server export (Sep 2026)</a:t>
            </a:r>
            <a:endParaRPr lang="en-US" sz="1100" dirty="0"/>
          </a:p>
        </p:txBody>
      </p:sp>
      <p:sp>
        <p:nvSpPr>
          <p:cNvPr id="11" name="Shape 7"/>
          <p:cNvSpPr/>
          <p:nvPr/>
        </p:nvSpPr>
        <p:spPr>
          <a:xfrm>
            <a:off x="5379598" y="960120"/>
            <a:ext cx="1874520" cy="1325880"/>
          </a:xfrm>
          <a:prstGeom prst="roundRect">
            <a:avLst>
              <a:gd name="adj" fmla="val 4138"/>
            </a:avLst>
          </a:prstGeom>
          <a:solidFill>
            <a:srgbClr val="F1F3F6"/>
          </a:solidFill>
          <a:ln w="12700">
            <a:solidFill>
              <a:srgbClr val="DDDDDD"/>
            </a:solidFill>
            <a:prstDash val="solid"/>
          </a:ln>
        </p:spPr>
      </p:sp>
      <p:sp>
        <p:nvSpPr>
          <p:cNvPr id="12" name="Shape 8"/>
          <p:cNvSpPr/>
          <p:nvPr/>
        </p:nvSpPr>
        <p:spPr>
          <a:xfrm>
            <a:off x="5379598" y="1069848"/>
            <a:ext cx="73152" cy="1106424"/>
          </a:xfrm>
          <a:prstGeom prst="rect">
            <a:avLst/>
          </a:prstGeom>
          <a:solidFill>
            <a:srgbClr val="E07A2F"/>
          </a:solidFill>
          <a:ln/>
        </p:spPr>
      </p:sp>
      <p:sp>
        <p:nvSpPr>
          <p:cNvPr id="13" name="Text 9"/>
          <p:cNvSpPr/>
          <p:nvPr/>
        </p:nvSpPr>
        <p:spPr>
          <a:xfrm>
            <a:off x="5608198" y="1124712"/>
            <a:ext cx="1554480" cy="6629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123B63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250,000</a:t>
            </a:r>
            <a:endParaRPr lang="en-US" sz="2600" dirty="0"/>
          </a:p>
        </p:txBody>
      </p:sp>
      <p:sp>
        <p:nvSpPr>
          <p:cNvPr id="14" name="Text 10"/>
          <p:cNvSpPr/>
          <p:nvPr/>
        </p:nvSpPr>
        <p:spPr>
          <a:xfrm>
            <a:off x="5608198" y="1782166"/>
            <a:ext cx="1554480" cy="318211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2A2A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Impressions booked</a:t>
            </a:r>
            <a:endParaRPr lang="en-US" sz="1100" dirty="0"/>
          </a:p>
        </p:txBody>
      </p:sp>
      <p:sp>
        <p:nvSpPr>
          <p:cNvPr id="15" name="Shape 11"/>
          <p:cNvSpPr/>
          <p:nvPr/>
        </p:nvSpPr>
        <p:spPr>
          <a:xfrm>
            <a:off x="7482718" y="960120"/>
            <a:ext cx="1874520" cy="1325880"/>
          </a:xfrm>
          <a:prstGeom prst="roundRect">
            <a:avLst>
              <a:gd name="adj" fmla="val 4138"/>
            </a:avLst>
          </a:prstGeom>
          <a:solidFill>
            <a:srgbClr val="F1F3F6"/>
          </a:solidFill>
          <a:ln w="12700">
            <a:solidFill>
              <a:srgbClr val="DDDDDD"/>
            </a:solidFill>
            <a:prstDash val="solid"/>
          </a:ln>
        </p:spPr>
      </p:sp>
      <p:sp>
        <p:nvSpPr>
          <p:cNvPr id="16" name="Shape 12"/>
          <p:cNvSpPr/>
          <p:nvPr/>
        </p:nvSpPr>
        <p:spPr>
          <a:xfrm>
            <a:off x="7482718" y="1069848"/>
            <a:ext cx="73152" cy="1106424"/>
          </a:xfrm>
          <a:prstGeom prst="rect">
            <a:avLst/>
          </a:prstGeom>
          <a:solidFill>
            <a:srgbClr val="E07A2F"/>
          </a:solidFill>
          <a:ln/>
        </p:spPr>
      </p:sp>
      <p:sp>
        <p:nvSpPr>
          <p:cNvPr id="17" name="Text 13"/>
          <p:cNvSpPr/>
          <p:nvPr/>
        </p:nvSpPr>
        <p:spPr>
          <a:xfrm>
            <a:off x="7711318" y="1124712"/>
            <a:ext cx="1554480" cy="6629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123B63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268,400</a:t>
            </a:r>
            <a:endParaRPr lang="en-US" sz="2600" dirty="0"/>
          </a:p>
        </p:txBody>
      </p:sp>
      <p:sp>
        <p:nvSpPr>
          <p:cNvPr id="18" name="Text 14"/>
          <p:cNvSpPr/>
          <p:nvPr/>
        </p:nvSpPr>
        <p:spPr>
          <a:xfrm>
            <a:off x="7711318" y="1782166"/>
            <a:ext cx="1554480" cy="318211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2A2A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Impressions delivered</a:t>
            </a:r>
            <a:endParaRPr lang="en-US" sz="1100" dirty="0"/>
          </a:p>
        </p:txBody>
      </p:sp>
      <p:sp>
        <p:nvSpPr>
          <p:cNvPr id="19" name="Shape 15"/>
          <p:cNvSpPr/>
          <p:nvPr/>
        </p:nvSpPr>
        <p:spPr>
          <a:xfrm>
            <a:off x="9585838" y="960120"/>
            <a:ext cx="1874520" cy="1325880"/>
          </a:xfrm>
          <a:prstGeom prst="roundRect">
            <a:avLst>
              <a:gd name="adj" fmla="val 4138"/>
            </a:avLst>
          </a:prstGeom>
          <a:solidFill>
            <a:srgbClr val="F1F3F6"/>
          </a:solidFill>
          <a:ln w="12700">
            <a:solidFill>
              <a:srgbClr val="DDDDDD"/>
            </a:solidFill>
            <a:prstDash val="solid"/>
          </a:ln>
        </p:spPr>
      </p:sp>
      <p:sp>
        <p:nvSpPr>
          <p:cNvPr id="20" name="Shape 16"/>
          <p:cNvSpPr/>
          <p:nvPr/>
        </p:nvSpPr>
        <p:spPr>
          <a:xfrm>
            <a:off x="9585838" y="1069848"/>
            <a:ext cx="73152" cy="1106424"/>
          </a:xfrm>
          <a:prstGeom prst="rect">
            <a:avLst/>
          </a:prstGeom>
          <a:solidFill>
            <a:srgbClr val="E07A2F"/>
          </a:solidFill>
          <a:ln/>
        </p:spPr>
      </p:sp>
      <p:sp>
        <p:nvSpPr>
          <p:cNvPr id="21" name="Text 17"/>
          <p:cNvSpPr/>
          <p:nvPr/>
        </p:nvSpPr>
        <p:spPr>
          <a:xfrm>
            <a:off x="9814438" y="1124712"/>
            <a:ext cx="1554480" cy="6629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123B63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92,000</a:t>
            </a:r>
            <a:endParaRPr lang="en-US" sz="2600" dirty="0"/>
          </a:p>
        </p:txBody>
      </p:sp>
      <p:sp>
        <p:nvSpPr>
          <p:cNvPr id="22" name="Text 18"/>
          <p:cNvSpPr/>
          <p:nvPr/>
        </p:nvSpPr>
        <p:spPr>
          <a:xfrm>
            <a:off x="9814438" y="1782166"/>
            <a:ext cx="1554480" cy="318211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2A2A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Unique users</a:t>
            </a:r>
            <a:endParaRPr lang="en-US" sz="11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379598" y="2651760"/>
          <a:ext cx="3154589" cy="914400"/>
        </p:xfrm>
        <a:graphic>
          <a:graphicData uri="http://schemas.openxmlformats.org/drawingml/2006/table">
            <a:tbl>
              <a:tblPr/>
              <a:tblGrid>
                <a:gridCol w="1577295"/>
                <a:gridCol w="1577295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Metric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3B6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Value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3B63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A2A2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Completed Views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2A2A2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241,560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24" name="Chart 0" descr=""/>
          <p:cNvGraphicFramePr/>
          <p:nvPr/>
        </p:nvGraphicFramePr>
        <p:xfrm>
          <a:off x="8899947" y="2651760"/>
          <a:ext cx="2788829" cy="3639312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3"/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4876678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4876678" cy="6858000"/>
          </a:xfrm>
          <a:prstGeom prst="rect">
            <a:avLst/>
          </a:prstGeom>
          <a:solidFill>
            <a:srgbClr val="0F3254">
              <a:alpha val="60000"/>
            </a:srgbClr>
          </a:solidFill>
          <a:ln/>
        </p:spPr>
      </p:sp>
      <p:sp>
        <p:nvSpPr>
          <p:cNvPr id="4" name="Shape 1"/>
          <p:cNvSpPr/>
          <p:nvPr/>
        </p:nvSpPr>
        <p:spPr>
          <a:xfrm>
            <a:off x="548640" y="4754880"/>
            <a:ext cx="1188720" cy="64008"/>
          </a:xfrm>
          <a:prstGeom prst="rect">
            <a:avLst/>
          </a:prstGeom>
          <a:solidFill>
            <a:srgbClr val="E07A2F"/>
          </a:solidFill>
          <a:ln/>
        </p:spPr>
      </p:sp>
      <p:sp>
        <p:nvSpPr>
          <p:cNvPr id="5" name="Text 2"/>
          <p:cNvSpPr/>
          <p:nvPr/>
        </p:nvSpPr>
        <p:spPr>
          <a:xfrm>
            <a:off x="548640" y="4937760"/>
            <a:ext cx="3779398" cy="1645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Podcast — Nova Podcast Network</a:t>
            </a:r>
            <a:endParaRPr lang="en-US" sz="3200" dirty="0"/>
          </a:p>
        </p:txBody>
      </p:sp>
      <p:sp>
        <p:nvSpPr>
          <p:cNvPr id="6" name="Shape 3"/>
          <p:cNvSpPr/>
          <p:nvPr/>
        </p:nvSpPr>
        <p:spPr>
          <a:xfrm>
            <a:off x="0" y="6473952"/>
            <a:ext cx="12191695" cy="384048"/>
          </a:xfrm>
          <a:prstGeom prst="rect">
            <a:avLst/>
          </a:prstGeom>
          <a:solidFill>
            <a:srgbClr val="E7EBEF"/>
          </a:solidFill>
          <a:ln/>
        </p:spPr>
      </p:sp>
      <p:sp>
        <p:nvSpPr>
          <p:cNvPr id="7" name="Text 4"/>
          <p:cNvSpPr/>
          <p:nvPr/>
        </p:nvSpPr>
        <p:spPr>
          <a:xfrm>
            <a:off x="457200" y="6473952"/>
            <a:ext cx="7315017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7A7A7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Spring Rate Cut 2026</a:t>
            </a:r>
            <a:endParaRPr lang="en-US" sz="900" dirty="0"/>
          </a:p>
        </p:txBody>
      </p:sp>
      <p:sp>
        <p:nvSpPr>
          <p:cNvPr id="8" name="Text 5"/>
          <p:cNvSpPr/>
          <p:nvPr/>
        </p:nvSpPr>
        <p:spPr>
          <a:xfrm>
            <a:off x="6248232" y="6473952"/>
            <a:ext cx="5486263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A7A7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Page 7</a:t>
            </a:r>
            <a:endParaRPr lang="en-US" sz="900" dirty="0"/>
          </a:p>
        </p:txBody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10682935" y="301752"/>
            <a:ext cx="1005840" cy="457200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5379598" y="502920"/>
            <a:ext cx="6309177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100" i="1" dirty="0">
                <a:solidFill>
                  <a:srgbClr val="7A7A7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Source: Megaphone delivery report</a:t>
            </a:r>
            <a:endParaRPr lang="en-US" sz="1100" dirty="0"/>
          </a:p>
        </p:txBody>
      </p:sp>
      <p:sp>
        <p:nvSpPr>
          <p:cNvPr id="11" name="Shape 7"/>
          <p:cNvSpPr/>
          <p:nvPr/>
        </p:nvSpPr>
        <p:spPr>
          <a:xfrm>
            <a:off x="5379598" y="960120"/>
            <a:ext cx="1874520" cy="1325880"/>
          </a:xfrm>
          <a:prstGeom prst="roundRect">
            <a:avLst>
              <a:gd name="adj" fmla="val 4138"/>
            </a:avLst>
          </a:prstGeom>
          <a:solidFill>
            <a:srgbClr val="F1F3F6"/>
          </a:solidFill>
          <a:ln w="12700">
            <a:solidFill>
              <a:srgbClr val="DDDDDD"/>
            </a:solidFill>
            <a:prstDash val="solid"/>
          </a:ln>
        </p:spPr>
      </p:sp>
      <p:sp>
        <p:nvSpPr>
          <p:cNvPr id="12" name="Shape 8"/>
          <p:cNvSpPr/>
          <p:nvPr/>
        </p:nvSpPr>
        <p:spPr>
          <a:xfrm>
            <a:off x="5379598" y="1069848"/>
            <a:ext cx="73152" cy="1106424"/>
          </a:xfrm>
          <a:prstGeom prst="rect">
            <a:avLst/>
          </a:prstGeom>
          <a:solidFill>
            <a:srgbClr val="E07A2F"/>
          </a:solidFill>
          <a:ln/>
        </p:spPr>
      </p:sp>
      <p:sp>
        <p:nvSpPr>
          <p:cNvPr id="13" name="Text 9"/>
          <p:cNvSpPr/>
          <p:nvPr/>
        </p:nvSpPr>
        <p:spPr>
          <a:xfrm>
            <a:off x="5608198" y="1124712"/>
            <a:ext cx="1554480" cy="6629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123B63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60,000</a:t>
            </a:r>
            <a:endParaRPr lang="en-US" sz="2600" dirty="0"/>
          </a:p>
        </p:txBody>
      </p:sp>
      <p:sp>
        <p:nvSpPr>
          <p:cNvPr id="14" name="Text 10"/>
          <p:cNvSpPr/>
          <p:nvPr/>
        </p:nvSpPr>
        <p:spPr>
          <a:xfrm>
            <a:off x="5608198" y="1782166"/>
            <a:ext cx="1554480" cy="318211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2A2A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Impressions booked</a:t>
            </a:r>
            <a:endParaRPr lang="en-US" sz="1100" dirty="0"/>
          </a:p>
        </p:txBody>
      </p:sp>
      <p:sp>
        <p:nvSpPr>
          <p:cNvPr id="15" name="Shape 11"/>
          <p:cNvSpPr/>
          <p:nvPr/>
        </p:nvSpPr>
        <p:spPr>
          <a:xfrm>
            <a:off x="7482718" y="960120"/>
            <a:ext cx="1874520" cy="1325880"/>
          </a:xfrm>
          <a:prstGeom prst="roundRect">
            <a:avLst>
              <a:gd name="adj" fmla="val 4138"/>
            </a:avLst>
          </a:prstGeom>
          <a:solidFill>
            <a:srgbClr val="F1F3F6"/>
          </a:solidFill>
          <a:ln w="12700">
            <a:solidFill>
              <a:srgbClr val="DDDDDD"/>
            </a:solidFill>
            <a:prstDash val="solid"/>
          </a:ln>
        </p:spPr>
      </p:sp>
      <p:sp>
        <p:nvSpPr>
          <p:cNvPr id="16" name="Shape 12"/>
          <p:cNvSpPr/>
          <p:nvPr/>
        </p:nvSpPr>
        <p:spPr>
          <a:xfrm>
            <a:off x="7482718" y="1069848"/>
            <a:ext cx="73152" cy="1106424"/>
          </a:xfrm>
          <a:prstGeom prst="rect">
            <a:avLst/>
          </a:prstGeom>
          <a:solidFill>
            <a:srgbClr val="E07A2F"/>
          </a:solidFill>
          <a:ln/>
        </p:spPr>
      </p:sp>
      <p:sp>
        <p:nvSpPr>
          <p:cNvPr id="17" name="Text 13"/>
          <p:cNvSpPr/>
          <p:nvPr/>
        </p:nvSpPr>
        <p:spPr>
          <a:xfrm>
            <a:off x="7711318" y="1124712"/>
            <a:ext cx="1554480" cy="6629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123B63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64,200</a:t>
            </a:r>
            <a:endParaRPr lang="en-US" sz="2600" dirty="0"/>
          </a:p>
        </p:txBody>
      </p:sp>
      <p:sp>
        <p:nvSpPr>
          <p:cNvPr id="18" name="Text 14"/>
          <p:cNvSpPr/>
          <p:nvPr/>
        </p:nvSpPr>
        <p:spPr>
          <a:xfrm>
            <a:off x="7711318" y="1782166"/>
            <a:ext cx="1554480" cy="318211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2A2A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Impressions delivered</a:t>
            </a:r>
            <a:endParaRPr lang="en-US" sz="1100" dirty="0"/>
          </a:p>
        </p:txBody>
      </p:sp>
      <p:sp>
        <p:nvSpPr>
          <p:cNvPr id="19" name="Shape 15"/>
          <p:cNvSpPr/>
          <p:nvPr/>
        </p:nvSpPr>
        <p:spPr>
          <a:xfrm>
            <a:off x="9585838" y="960120"/>
            <a:ext cx="1874520" cy="1325880"/>
          </a:xfrm>
          <a:prstGeom prst="roundRect">
            <a:avLst>
              <a:gd name="adj" fmla="val 4138"/>
            </a:avLst>
          </a:prstGeom>
          <a:solidFill>
            <a:srgbClr val="F1F3F6"/>
          </a:solidFill>
          <a:ln w="12700">
            <a:solidFill>
              <a:srgbClr val="DDDDDD"/>
            </a:solidFill>
            <a:prstDash val="solid"/>
          </a:ln>
        </p:spPr>
      </p:sp>
      <p:sp>
        <p:nvSpPr>
          <p:cNvPr id="20" name="Shape 16"/>
          <p:cNvSpPr/>
          <p:nvPr/>
        </p:nvSpPr>
        <p:spPr>
          <a:xfrm>
            <a:off x="9585838" y="1069848"/>
            <a:ext cx="73152" cy="1106424"/>
          </a:xfrm>
          <a:prstGeom prst="rect">
            <a:avLst/>
          </a:prstGeom>
          <a:solidFill>
            <a:srgbClr val="E07A2F"/>
          </a:solidFill>
          <a:ln/>
        </p:spPr>
      </p:sp>
      <p:sp>
        <p:nvSpPr>
          <p:cNvPr id="21" name="Text 17"/>
          <p:cNvSpPr/>
          <p:nvPr/>
        </p:nvSpPr>
        <p:spPr>
          <a:xfrm>
            <a:off x="9814438" y="1124712"/>
            <a:ext cx="1554480" cy="6629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123B63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58,800</a:t>
            </a:r>
            <a:endParaRPr lang="en-US" sz="2600" dirty="0"/>
          </a:p>
        </p:txBody>
      </p:sp>
      <p:sp>
        <p:nvSpPr>
          <p:cNvPr id="22" name="Text 18"/>
          <p:cNvSpPr/>
          <p:nvPr/>
        </p:nvSpPr>
        <p:spPr>
          <a:xfrm>
            <a:off x="9814438" y="1782166"/>
            <a:ext cx="1554480" cy="318211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2A2A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Downloads</a:t>
            </a:r>
            <a:endParaRPr lang="en-US" sz="1100" dirty="0"/>
          </a:p>
        </p:txBody>
      </p:sp>
      <p:graphicFrame>
        <p:nvGraphicFramePr>
          <p:cNvPr id="23" name="Chart 0" descr=""/>
          <p:cNvGraphicFramePr/>
          <p:nvPr/>
        </p:nvGraphicFramePr>
        <p:xfrm>
          <a:off x="5379598" y="2651760"/>
          <a:ext cx="6309177" cy="3639312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3"/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4876678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4876678" cy="6858000"/>
          </a:xfrm>
          <a:prstGeom prst="rect">
            <a:avLst/>
          </a:prstGeom>
          <a:solidFill>
            <a:srgbClr val="0F3254">
              <a:alpha val="60000"/>
            </a:srgbClr>
          </a:solidFill>
          <a:ln/>
        </p:spPr>
      </p:sp>
      <p:sp>
        <p:nvSpPr>
          <p:cNvPr id="4" name="Shape 1"/>
          <p:cNvSpPr/>
          <p:nvPr/>
        </p:nvSpPr>
        <p:spPr>
          <a:xfrm>
            <a:off x="548640" y="4754880"/>
            <a:ext cx="1188720" cy="64008"/>
          </a:xfrm>
          <a:prstGeom prst="rect">
            <a:avLst/>
          </a:prstGeom>
          <a:solidFill>
            <a:srgbClr val="E07A2F"/>
          </a:solidFill>
          <a:ln/>
        </p:spPr>
      </p:sp>
      <p:sp>
        <p:nvSpPr>
          <p:cNvPr id="5" name="Text 2"/>
          <p:cNvSpPr/>
          <p:nvPr/>
        </p:nvSpPr>
        <p:spPr>
          <a:xfrm>
            <a:off x="548640" y="4937760"/>
            <a:ext cx="3779398" cy="1645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Reach &amp; frequency</a:t>
            </a:r>
            <a:endParaRPr lang="en-US" sz="3200" dirty="0"/>
          </a:p>
        </p:txBody>
      </p:sp>
      <p:sp>
        <p:nvSpPr>
          <p:cNvPr id="6" name="Shape 3"/>
          <p:cNvSpPr/>
          <p:nvPr/>
        </p:nvSpPr>
        <p:spPr>
          <a:xfrm>
            <a:off x="0" y="6473952"/>
            <a:ext cx="12191695" cy="384048"/>
          </a:xfrm>
          <a:prstGeom prst="rect">
            <a:avLst/>
          </a:prstGeom>
          <a:solidFill>
            <a:srgbClr val="E7EBEF"/>
          </a:solidFill>
          <a:ln/>
        </p:spPr>
      </p:sp>
      <p:sp>
        <p:nvSpPr>
          <p:cNvPr id="7" name="Text 4"/>
          <p:cNvSpPr/>
          <p:nvPr/>
        </p:nvSpPr>
        <p:spPr>
          <a:xfrm>
            <a:off x="457200" y="6473952"/>
            <a:ext cx="7315017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7A7A7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Spring Rate Cut 2026</a:t>
            </a:r>
            <a:endParaRPr lang="en-US" sz="900" dirty="0"/>
          </a:p>
        </p:txBody>
      </p:sp>
      <p:sp>
        <p:nvSpPr>
          <p:cNvPr id="8" name="Text 5"/>
          <p:cNvSpPr/>
          <p:nvPr/>
        </p:nvSpPr>
        <p:spPr>
          <a:xfrm>
            <a:off x="6248232" y="6473952"/>
            <a:ext cx="5486263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A7A7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Page 8</a:t>
            </a:r>
            <a:endParaRPr lang="en-US" sz="900" dirty="0"/>
          </a:p>
        </p:txBody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10682935" y="301752"/>
            <a:ext cx="1005840" cy="457200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5379598" y="502920"/>
            <a:ext cx="6309177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100" i="1" dirty="0">
                <a:solidFill>
                  <a:srgbClr val="7A7A7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Source: GfK Fusion Survey 4 2026</a:t>
            </a:r>
            <a:endParaRPr lang="en-US" sz="1100" dirty="0"/>
          </a:p>
        </p:txBody>
      </p:sp>
      <p:sp>
        <p:nvSpPr>
          <p:cNvPr id="11" name="Shape 7"/>
          <p:cNvSpPr/>
          <p:nvPr/>
        </p:nvSpPr>
        <p:spPr>
          <a:xfrm>
            <a:off x="5379598" y="960120"/>
            <a:ext cx="1874520" cy="1325880"/>
          </a:xfrm>
          <a:prstGeom prst="roundRect">
            <a:avLst>
              <a:gd name="adj" fmla="val 4138"/>
            </a:avLst>
          </a:prstGeom>
          <a:solidFill>
            <a:srgbClr val="F1F3F6"/>
          </a:solidFill>
          <a:ln w="12700">
            <a:solidFill>
              <a:srgbClr val="DDDDDD"/>
            </a:solidFill>
            <a:prstDash val="solid"/>
          </a:ln>
        </p:spPr>
      </p:sp>
      <p:sp>
        <p:nvSpPr>
          <p:cNvPr id="12" name="Shape 8"/>
          <p:cNvSpPr/>
          <p:nvPr/>
        </p:nvSpPr>
        <p:spPr>
          <a:xfrm>
            <a:off x="5379598" y="1069848"/>
            <a:ext cx="73152" cy="1106424"/>
          </a:xfrm>
          <a:prstGeom prst="rect">
            <a:avLst/>
          </a:prstGeom>
          <a:solidFill>
            <a:srgbClr val="E07A2F"/>
          </a:solidFill>
          <a:ln/>
        </p:spPr>
      </p:sp>
      <p:sp>
        <p:nvSpPr>
          <p:cNvPr id="13" name="Text 9"/>
          <p:cNvSpPr/>
          <p:nvPr/>
        </p:nvSpPr>
        <p:spPr>
          <a:xfrm>
            <a:off x="5608198" y="1124712"/>
            <a:ext cx="1554480" cy="6629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123B63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512,000</a:t>
            </a:r>
            <a:endParaRPr lang="en-US" sz="2600" dirty="0"/>
          </a:p>
        </p:txBody>
      </p:sp>
      <p:sp>
        <p:nvSpPr>
          <p:cNvPr id="14" name="Text 10"/>
          <p:cNvSpPr/>
          <p:nvPr/>
        </p:nvSpPr>
        <p:spPr>
          <a:xfrm>
            <a:off x="5608198" y="1782166"/>
            <a:ext cx="1554480" cy="318211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2A2A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Reach 1+</a:t>
            </a:r>
            <a:endParaRPr lang="en-US" sz="1100" dirty="0"/>
          </a:p>
        </p:txBody>
      </p:sp>
      <p:sp>
        <p:nvSpPr>
          <p:cNvPr id="15" name="Shape 11"/>
          <p:cNvSpPr/>
          <p:nvPr/>
        </p:nvSpPr>
        <p:spPr>
          <a:xfrm>
            <a:off x="7482718" y="960120"/>
            <a:ext cx="1874520" cy="1325880"/>
          </a:xfrm>
          <a:prstGeom prst="roundRect">
            <a:avLst>
              <a:gd name="adj" fmla="val 4138"/>
            </a:avLst>
          </a:prstGeom>
          <a:solidFill>
            <a:srgbClr val="F1F3F6"/>
          </a:solidFill>
          <a:ln w="12700">
            <a:solidFill>
              <a:srgbClr val="DDDDDD"/>
            </a:solidFill>
            <a:prstDash val="solid"/>
          </a:ln>
        </p:spPr>
      </p:sp>
      <p:sp>
        <p:nvSpPr>
          <p:cNvPr id="16" name="Shape 12"/>
          <p:cNvSpPr/>
          <p:nvPr/>
        </p:nvSpPr>
        <p:spPr>
          <a:xfrm>
            <a:off x="7482718" y="1069848"/>
            <a:ext cx="73152" cy="1106424"/>
          </a:xfrm>
          <a:prstGeom prst="rect">
            <a:avLst/>
          </a:prstGeom>
          <a:solidFill>
            <a:srgbClr val="E07A2F"/>
          </a:solidFill>
          <a:ln/>
        </p:spPr>
      </p:sp>
      <p:sp>
        <p:nvSpPr>
          <p:cNvPr id="17" name="Text 13"/>
          <p:cNvSpPr/>
          <p:nvPr/>
        </p:nvSpPr>
        <p:spPr>
          <a:xfrm>
            <a:off x="7711318" y="1124712"/>
            <a:ext cx="1554480" cy="6629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123B63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288,000</a:t>
            </a:r>
            <a:endParaRPr lang="en-US" sz="2600" dirty="0"/>
          </a:p>
        </p:txBody>
      </p:sp>
      <p:sp>
        <p:nvSpPr>
          <p:cNvPr id="18" name="Text 14"/>
          <p:cNvSpPr/>
          <p:nvPr/>
        </p:nvSpPr>
        <p:spPr>
          <a:xfrm>
            <a:off x="7711318" y="1782166"/>
            <a:ext cx="1554480" cy="318211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2A2A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Reach 3+</a:t>
            </a:r>
            <a:endParaRPr lang="en-US" sz="1100" dirty="0"/>
          </a:p>
        </p:txBody>
      </p:sp>
      <p:sp>
        <p:nvSpPr>
          <p:cNvPr id="19" name="Shape 15"/>
          <p:cNvSpPr/>
          <p:nvPr/>
        </p:nvSpPr>
        <p:spPr>
          <a:xfrm>
            <a:off x="9585838" y="960120"/>
            <a:ext cx="1874520" cy="1325880"/>
          </a:xfrm>
          <a:prstGeom prst="roundRect">
            <a:avLst>
              <a:gd name="adj" fmla="val 4138"/>
            </a:avLst>
          </a:prstGeom>
          <a:solidFill>
            <a:srgbClr val="F1F3F6"/>
          </a:solidFill>
          <a:ln w="12700">
            <a:solidFill>
              <a:srgbClr val="DDDDDD"/>
            </a:solidFill>
            <a:prstDash val="solid"/>
          </a:ln>
        </p:spPr>
      </p:sp>
      <p:sp>
        <p:nvSpPr>
          <p:cNvPr id="20" name="Shape 16"/>
          <p:cNvSpPr/>
          <p:nvPr/>
        </p:nvSpPr>
        <p:spPr>
          <a:xfrm>
            <a:off x="9585838" y="1069848"/>
            <a:ext cx="73152" cy="1106424"/>
          </a:xfrm>
          <a:prstGeom prst="rect">
            <a:avLst/>
          </a:prstGeom>
          <a:solidFill>
            <a:srgbClr val="E07A2F"/>
          </a:solidFill>
          <a:ln/>
        </p:spPr>
      </p:sp>
      <p:sp>
        <p:nvSpPr>
          <p:cNvPr id="21" name="Text 17"/>
          <p:cNvSpPr/>
          <p:nvPr/>
        </p:nvSpPr>
        <p:spPr>
          <a:xfrm>
            <a:off x="9814438" y="1124712"/>
            <a:ext cx="1554480" cy="6629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123B63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3.4</a:t>
            </a:r>
            <a:endParaRPr lang="en-US" sz="2600" dirty="0"/>
          </a:p>
        </p:txBody>
      </p:sp>
      <p:sp>
        <p:nvSpPr>
          <p:cNvPr id="22" name="Text 18"/>
          <p:cNvSpPr/>
          <p:nvPr/>
        </p:nvSpPr>
        <p:spPr>
          <a:xfrm>
            <a:off x="9814438" y="1782166"/>
            <a:ext cx="1554480" cy="318211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2A2A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Avg frequency</a:t>
            </a:r>
            <a:endParaRPr lang="en-US" sz="11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379598" y="2651760"/>
          <a:ext cx="4572000" cy="914400"/>
        </p:xfrm>
        <a:graphic>
          <a:graphicData uri="http://schemas.openxmlformats.org/drawingml/2006/table">
            <a:tbl>
              <a:tblPr/>
              <a:tblGrid>
                <a:gridCol w="2286000"/>
                <a:gridCol w="2286000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Metric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3B6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Value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3B63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A2A2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Gross Impacts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2A2A2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1,740,000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A2A2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Demographic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2A2A2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P25-54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03559">
              <a:alpha val="60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0" y="2286000"/>
            <a:ext cx="12191695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Thank you</a:t>
            </a:r>
            <a:endParaRPr lang="en-US" sz="4400" dirty="0"/>
          </a:p>
        </p:txBody>
      </p:sp>
      <p:sp>
        <p:nvSpPr>
          <p:cNvPr id="4" name="Text 2"/>
          <p:cNvSpPr/>
          <p:nvPr/>
        </p:nvSpPr>
        <p:spPr>
          <a:xfrm>
            <a:off x="0" y="3383280"/>
            <a:ext cx="12191695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FFFFFF">
                    <a:alpha val="8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Sample data — not live-verified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3352648" y="4069080"/>
            <a:ext cx="5486400" cy="14630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3672688" y="4343400"/>
            <a:ext cx="2194560" cy="914400"/>
          </a:xfrm>
          <a:prstGeom prst="rect">
            <a:avLst/>
          </a:prstGeom>
        </p:spPr>
      </p:pic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6324448" y="4343400"/>
            <a:ext cx="2194560" cy="914400"/>
          </a:xfrm>
          <a:prstGeom prst="rect">
            <a:avLst/>
          </a:prstGeom>
        </p:spPr>
      </p:pic>
      <p:sp>
        <p:nvSpPr>
          <p:cNvPr id="8" name="Shape 4"/>
          <p:cNvSpPr/>
          <p:nvPr/>
        </p:nvSpPr>
        <p:spPr>
          <a:xfrm>
            <a:off x="6091276" y="4434840"/>
            <a:ext cx="9144" cy="731520"/>
          </a:xfrm>
          <a:prstGeom prst="rect">
            <a:avLst/>
          </a:prstGeom>
          <a:solidFill>
            <a:srgbClr val="AFAFAF"/>
          </a:solidFill>
          <a:ln/>
        </p:spPr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2026-09-18T00:40:46Z</dcterms:created>
  <dcterms:modified xsi:type="dcterms:W3CDTF">2026-09-18T00:40:46Z</dcterms:modified>
</cp:coreProperties>
</file>